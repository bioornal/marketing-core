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68735" y="508406"/>
            <a:ext cx="45720" cy="5841188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" y="508406"/>
            <a:ext cx="2595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ESTRATEGIA DE CAMPANA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928406"/>
            <a:ext cx="29260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B673"/>
                </a:solidFill>
                <a:latin typeface="Geist"/>
              </a:rPr>
              <a:t>Selva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" y="1737360"/>
            <a:ext cx="80012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AFAFA"/>
                </a:solidFill>
                <a:latin typeface="Geist"/>
              </a:rPr>
              <a:t>Black Friday 2026: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2560320"/>
            <a:ext cx="80012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2BB673"/>
                </a:solidFill>
                <a:latin typeface="Geist"/>
              </a:rPr>
              <a:t>La semana en que las
PyMEs compran.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4389120"/>
            <a:ext cx="7254447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E"/>
                </a:solidFill>
                <a:latin typeface="Inter"/>
              </a:rPr>
              <a:t>Estrategia de Campana completa: analisis, táctica y ejecucion.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5969594"/>
            <a:ext cx="27432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2"/>
                </a:solidFill>
                <a:latin typeface="JetBrains Mono"/>
              </a:rPr>
              <a:t>NOVIEMBRE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91695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" y="508406"/>
            <a:ext cx="2085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01  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968406"/>
            <a:ext cx="10668305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Geist"/>
              </a:rPr>
              <a:t>En 7 dias podemos cerrar el equivalente a 2 meses de trabajo.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" y="1788406"/>
            <a:ext cx="5197352" cy="120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695" y="1788406"/>
            <a:ext cx="91440" cy="120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4575" y="1925566"/>
            <a:ext cx="4831592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B673"/>
                </a:solidFill>
                <a:latin typeface="JetBrains Mono"/>
              </a:rPr>
              <a:t>28 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" y="246840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Fecha del evento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2647" y="1788406"/>
            <a:ext cx="5197352" cy="120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2647" y="1788406"/>
            <a:ext cx="91440" cy="120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527" y="1925566"/>
            <a:ext cx="4831592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B673"/>
                </a:solidFill>
                <a:latin typeface="JetBrains Mono"/>
              </a:rPr>
              <a:t>3 CUPOS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527" y="246840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Capacidad maxima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695" y="3171286"/>
            <a:ext cx="5197352" cy="120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695" y="3171286"/>
            <a:ext cx="91440" cy="120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" y="3308446"/>
            <a:ext cx="4831592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B673"/>
                </a:solidFill>
                <a:latin typeface="JetBrains Mono"/>
              </a:rPr>
              <a:t>$1.200.000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575" y="385128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Objetivo de facturacion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2647" y="3171286"/>
            <a:ext cx="5197352" cy="120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2647" y="3171286"/>
            <a:ext cx="91440" cy="120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527" y="3308446"/>
            <a:ext cx="4831592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B673"/>
                </a:solidFill>
                <a:latin typeface="JetBrains Mono"/>
              </a:rPr>
              <a:t>7 DIAS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527" y="385128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Ventana de campana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91440" cy="43891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5295" y="1645920"/>
            <a:ext cx="1828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B673"/>
                </a:solidFill>
                <a:latin typeface="JetBrains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295" y="2194560"/>
            <a:ext cx="1066830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FAFA"/>
                </a:solidFill>
                <a:latin typeface="Geist"/>
              </a:rPr>
              <a:t>ANALISIS
DE MERCADO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508406"/>
            <a:ext cx="1066830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F"/>
                </a:solidFill>
                <a:latin typeface="Geist"/>
              </a:rPr>
              <a:t>El Q4 es el pico de decision digital del dueno de PyME.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695" y="1514246"/>
            <a:ext cx="2011680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" y="196856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295" y="1788566"/>
            <a:ext cx="10394705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F"/>
                </a:solidFill>
                <a:latin typeface="Inter"/>
              </a:rPr>
              <a:t>+180%  en busquedas de 'sitio web para mi negocio' cada noviembre (Google Argentina).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266856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295" y="2488566"/>
            <a:ext cx="10394705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F"/>
                </a:solidFill>
                <a:latin typeface="Inter"/>
              </a:rPr>
              <a:t>7 de cada 10  duenos de PyME considera invertir en digital en Q4 segun Mercado 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695" y="336856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5295" y="3188566"/>
            <a:ext cx="10394705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F"/>
                </a:solidFill>
                <a:latin typeface="Inter"/>
              </a:rPr>
              <a:t>3 de cada 10  PyMEs argentinas tiene web propia — la oportunidad sigue siendo enorme.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695" y="406856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5295" y="3888566"/>
            <a:ext cx="10394705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F"/>
                </a:solidFill>
                <a:latin typeface="Inter"/>
              </a:rPr>
              <a:t>Agencias en Q4  suben precios y alargan plazos. Nosotros arrancamos en 2-3 semanas.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64345" cy="6858000"/>
          </a:xfrm>
          <a:prstGeom prst="rect">
            <a:avLst/>
          </a:prstGeom>
          <a:solidFill>
            <a:srgbClr val="0A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08406"/>
            <a:ext cx="463282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2"/>
                </a:solidFill>
                <a:latin typeface="JetBrains Mono"/>
              </a:rPr>
              <a:t>AGENCIAS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88406"/>
            <a:ext cx="4632825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Geist"/>
              </a:rPr>
              <a:t>El costo
oculto.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4632825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x  Desde $1.500.000 ARS promedio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37440"/>
            <a:ext cx="4632825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x  60 a 90 dias de desarrollo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97440"/>
            <a:ext cx="4632825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x  Cuotas mensuales sin fecha de fin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57440"/>
            <a:ext cx="4632825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x  Cambian el equipo a mitad de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617440"/>
            <a:ext cx="4632825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x  PM intermediario: nada directo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2985" y="508406"/>
            <a:ext cx="551701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B673"/>
                </a:solidFill>
                <a:latin typeface="JetBrains Mono"/>
              </a:rPr>
              <a:t>SELVA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2985" y="988406"/>
            <a:ext cx="5517014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C1C1F"/>
                </a:solidFill>
                <a:latin typeface="Geist"/>
              </a:rPr>
              <a:t>Pago unico.
Sin vueltas.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985" y="2377440"/>
            <a:ext cx="5517014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F"/>
                </a:solidFill>
                <a:latin typeface="Inter"/>
              </a:rPr>
              <a:t>v  $250.000 – $700.000 segun el proyecto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2985" y="2937440"/>
            <a:ext cx="5517014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F"/>
                </a:solidFill>
                <a:latin typeface="Inter"/>
              </a:rPr>
              <a:t>v  2 a 3 semanas para un sitio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2985" y="3497440"/>
            <a:ext cx="5517014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v  Pago unico, sin cuotas mensuales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2985" y="4057440"/>
            <a:ext cx="5517014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v  Hablás con Christian de principio a fin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2985" y="4617440"/>
            <a:ext cx="5517014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v  Arranca solo cuando vos aprobas el diseno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91440" cy="43891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5295" y="1645920"/>
            <a:ext cx="1828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B673"/>
                </a:solidFill>
                <a:latin typeface="JetBrains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295" y="2194560"/>
            <a:ext cx="1066830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FAFA"/>
                </a:solidFill>
                <a:latin typeface="Geist"/>
              </a:rPr>
              <a:t>ESTRATEGIA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508406"/>
            <a:ext cx="1066830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C1F"/>
                </a:solidFill>
                <a:latin typeface="Geist"/>
              </a:rPr>
              <a:t>Una oferta. Una fecha. Tres cupos.
La escasez real genera accion.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695" y="1971446"/>
            <a:ext cx="2560320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695" y="2245766"/>
            <a:ext cx="746781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E"/>
                </a:solidFill>
                <a:latin typeface="Inter"/>
              </a:rPr>
              <a:t>No es un descuento de precio: es una garantia de atencion exclusiva. El dueno de PyME no necesita un precio mas bajo — necesita certeza de que su proyecto arranca esta semana y termina en tiempo y forma.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" y="3891686"/>
            <a:ext cx="1066830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2"/>
                </a:solidFill>
                <a:latin typeface="JetBrains Mono"/>
              </a:rPr>
              <a:t>LA OFERTA BLACK FRIDAY: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4348886"/>
            <a:ext cx="2170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LANDING PAGE  $250.000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1695" y="4348886"/>
            <a:ext cx="1915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SITIO WEB  $400.000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695" y="4348886"/>
            <a:ext cx="2000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E-COMMERCE  $700.000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5171846"/>
            <a:ext cx="1066830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8E92"/>
                </a:solidFill>
                <a:latin typeface="Inter"/>
              </a:rPr>
              <a:t>Sena del 40% confirma el cupo. Solo hasta completar los 3 proyectos.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274320"/>
            <a:ext cx="1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2BB673"/>
                </a:solidFill>
                <a:latin typeface="Geis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1463040"/>
            <a:ext cx="85346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FAFAFA"/>
                </a:solidFill>
                <a:latin typeface="Geist"/>
              </a:rPr>
              <a:t>Mientras la competencia
descuenta el precio,
nosotros descontamos
el riesgo.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4846320"/>
            <a:ext cx="1066830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2"/>
                </a:solidFill>
                <a:latin typeface="Inter"/>
              </a:rPr>
              <a:t>Posicionamiento Selva Digital  Black Friday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91440" cy="43891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5295" y="1645920"/>
            <a:ext cx="1828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B673"/>
                </a:solidFill>
                <a:latin typeface="JetBrains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295" y="2194560"/>
            <a:ext cx="1066830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FAFA"/>
                </a:solidFill>
                <a:latin typeface="Geist"/>
              </a:rPr>
              <a:t>TACTICAS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" y="508406"/>
            <a:ext cx="2510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SEMANA PREVIA  24 - 27 NOV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958406"/>
            <a:ext cx="10668305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1F"/>
                </a:solidFill>
                <a:latin typeface="Geist"/>
              </a:rPr>
              <a:t>Calentar la audiencia el lunes duplica la conversion del viernes.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" y="2062886"/>
            <a:ext cx="1005840" cy="590000"/>
          </a:xfrm>
          <a:prstGeom prst="rect">
            <a:avLst/>
          </a:prstGeom>
          <a:solidFill>
            <a:srgbClr val="F0FBF6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135" y="2154326"/>
            <a:ext cx="914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B673"/>
                </a:solidFill>
                <a:latin typeface="JetBrains Mono"/>
              </a:rPr>
              <a:t>LUN 24/11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4695" y="2200046"/>
            <a:ext cx="952530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Post carrusel en Instagram: '¿Tu negocio tiene web?' — problema &gt; solucion &gt; resultado real del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695" y="2772886"/>
            <a:ext cx="1005840" cy="590000"/>
          </a:xfrm>
          <a:prstGeom prst="rect">
            <a:avLst/>
          </a:prstGeom>
          <a:solidFill>
            <a:srgbClr val="F0FBF6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135" y="2864326"/>
            <a:ext cx="914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B673"/>
                </a:solidFill>
                <a:latin typeface="JetBrains Mono"/>
              </a:rPr>
              <a:t>MAR 25/11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4695" y="2910046"/>
            <a:ext cx="952530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Stories con countdown 72 hs + early access por WhatsApp a lista de leads anteriores.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695" y="3482886"/>
            <a:ext cx="1005840" cy="590000"/>
          </a:xfrm>
          <a:prstGeom prst="rect">
            <a:avLst/>
          </a:prstGeom>
          <a:solidFill>
            <a:srgbClr val="F0FBF6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" y="3574326"/>
            <a:ext cx="914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B673"/>
                </a:solidFill>
                <a:latin typeface="JetBrains Mono"/>
              </a:rPr>
              <a:t>MIE 26/11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4695" y="3620046"/>
            <a:ext cx="952530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Mensaje 1:1 a contactos warm: 'Te reservo un cupo si me avísas antes del viernes'.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" y="4192886"/>
            <a:ext cx="1005840" cy="590000"/>
          </a:xfrm>
          <a:prstGeom prst="rect">
            <a:avLst/>
          </a:prstGeom>
          <a:solidFill>
            <a:srgbClr val="F0FBF6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" y="4284326"/>
            <a:ext cx="914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B673"/>
                </a:solidFill>
                <a:latin typeface="JetBrains Mono"/>
              </a:rPr>
              <a:t>JUE 27/11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4695" y="4330046"/>
            <a:ext cx="952530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Reels antes/despues con caso real: El Fogon (x2.3 ticket) o MegaMuebles (+34% leads).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" y="5969594"/>
            <a:ext cx="1066830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2"/>
                </a:solidFill>
                <a:latin typeface="JetBrains Mono"/>
              </a:rPr>
              <a:t>Horario pico de publicacion: 19 - 21 hs (Argentina)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" y="508406"/>
            <a:ext cx="2085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DIA 0  VIERNES 28 NOV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958406"/>
            <a:ext cx="1066830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AFA"/>
                </a:solidFill>
                <a:latin typeface="Geist"/>
              </a:rPr>
              <a:t>Urgencia visible + prueba social en tiempo real.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" y="1925726"/>
            <a:ext cx="5197352" cy="85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695" y="1925726"/>
            <a:ext cx="91440" cy="85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4575" y="2062886"/>
            <a:ext cx="483159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B673"/>
                </a:solidFill>
                <a:latin typeface="JetBrains Mono"/>
              </a:rPr>
              <a:t>09:00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" y="237572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Publicar oferta completa en IG feed + primera story con link en bio.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2647" y="1925726"/>
            <a:ext cx="5197352" cy="85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2647" y="1925726"/>
            <a:ext cx="91440" cy="85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527" y="2062886"/>
            <a:ext cx="483159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B673"/>
                </a:solidFill>
                <a:latin typeface="JetBrains Mono"/>
              </a:rPr>
              <a:t>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527" y="237572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Blast por WhatsApp a lista warm (maximo 50 contactos seleccionados).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695" y="2912886"/>
            <a:ext cx="5197352" cy="85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695" y="2912886"/>
            <a:ext cx="91440" cy="85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" y="3050046"/>
            <a:ext cx="483159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B673"/>
                </a:solidFill>
                <a:latin typeface="JetBrains Mono"/>
              </a:rPr>
              <a:t>14:00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575" y="336288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Story update: 'CUPO 1 TOMADO — quedan 2.'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2647" y="2912886"/>
            <a:ext cx="5197352" cy="850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2647" y="2912886"/>
            <a:ext cx="91440" cy="85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527" y="3050046"/>
            <a:ext cx="483159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B673"/>
                </a:solidFill>
                <a:latin typeface="JetBrains Mono"/>
              </a:rPr>
              <a:t>20:00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527" y="3362886"/>
            <a:ext cx="483159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Inter"/>
              </a:rPr>
              <a:t>Story update: 'CUPO 2 TOMADO — queda 1 · manana cerramos.'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5989594"/>
            <a:ext cx="1066830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8E92"/>
                </a:solidFill>
                <a:latin typeface="Inter"/>
              </a:rPr>
              <a:t>Regla de oro: responder toda consulta en menos de 30 minutos durante el 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" y="508406"/>
            <a:ext cx="3020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SEGUIMIENTO  LUN - MAR 1 - 2 DIC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958406"/>
            <a:ext cx="1066830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F"/>
                </a:solidFill>
                <a:latin typeface="Geist"/>
              </a:rPr>
              <a:t>Cyber Monday convierte a los que dudaron el viernes.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" y="1880006"/>
            <a:ext cx="1645920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695" y="233432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5295" y="2154326"/>
            <a:ext cx="10394705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Lunes 1/12 a las 9 AM: 'Ultima oportunidad — queda 1 cupo' (solo si es cierto).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695" y="298432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5295" y="2804326"/>
            <a:ext cx="10394705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Mensaje distinto al del viernes: 'Ya arrancamos con 2 proyectos. Te sumo si me confirmas hoy.'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695" y="363432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5295" y="3454326"/>
            <a:ext cx="10394705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Mostrar avance en stories si ya hay un cliente firmado (genera prueba social en vivo).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428432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5295" y="4104326"/>
            <a:ext cx="10394705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Cerrar campana el martes 2/12 al mediodia con story de cierre: 'Cupos agotados. Proxima ventana: enero 2027.'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" y="4934326"/>
            <a:ext cx="91440" cy="9144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5295" y="4754326"/>
            <a:ext cx="10394705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F"/>
                </a:solidFill>
                <a:latin typeface="Inter"/>
              </a:rPr>
              <a:t>Guardar lista de interesados que no cerraron — son leads para la proxima ventana.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508406"/>
            <a:ext cx="1066830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1F"/>
                </a:solidFill>
                <a:latin typeface="Geist"/>
              </a:rPr>
              <a:t>Tres canales, un solo mensaje: tu negocio necesita web.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695" y="1458406"/>
            <a:ext cx="3373701" cy="3657600"/>
          </a:xfrm>
          <a:prstGeom prst="rect">
            <a:avLst/>
          </a:prstGeom>
          <a:solidFill>
            <a:srgbClr val="F0FBF6"/>
          </a:solidFill>
          <a:ln w="9525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" y="1458406"/>
            <a:ext cx="3373701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4575" y="1641286"/>
            <a:ext cx="3007941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JetBrains Mono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575" y="1958406"/>
            <a:ext cx="3007941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F"/>
                </a:solidFill>
                <a:latin typeface="Geist"/>
              </a:rPr>
              <a:t>Alcance organico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" y="2438406"/>
            <a:ext cx="3007941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Carrusel + Stories + Reels
Cold → warm audience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8996" y="1458406"/>
            <a:ext cx="3373701" cy="3657600"/>
          </a:xfrm>
          <a:prstGeom prst="rect">
            <a:avLst/>
          </a:prstGeom>
          <a:solidFill>
            <a:srgbClr val="F0FBF6"/>
          </a:solidFill>
          <a:ln w="9525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8996" y="1458406"/>
            <a:ext cx="3373701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876" y="1641286"/>
            <a:ext cx="3007941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JetBrains Mono"/>
              </a:rPr>
              <a:t>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876" y="1958406"/>
            <a:ext cx="3007941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F"/>
                </a:solidFill>
                <a:latin typeface="Geist"/>
              </a:rPr>
              <a:t>Cierre 1 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1876" y="2438406"/>
            <a:ext cx="3007941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Lista de leads warm
Conversion directa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6298" y="1458406"/>
            <a:ext cx="3373701" cy="3657600"/>
          </a:xfrm>
          <a:prstGeom prst="rect">
            <a:avLst/>
          </a:prstGeom>
          <a:solidFill>
            <a:srgbClr val="F0FBF6"/>
          </a:solidFill>
          <a:ln w="9525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6298" y="1458406"/>
            <a:ext cx="3373701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9178" y="1641286"/>
            <a:ext cx="3007941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JetBrains Mono"/>
              </a:rPr>
              <a:t>DM +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9178" y="1958406"/>
            <a:ext cx="3007941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F"/>
                </a:solidFill>
                <a:latin typeface="Geist"/>
              </a:rPr>
              <a:t>Nurturing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78" y="2438406"/>
            <a:ext cx="3007941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E"/>
                </a:solidFill>
                <a:latin typeface="Inter"/>
              </a:rPr>
              <a:t>Leads anteriores
Prospectos indecisos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91440" cy="43891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5295" y="1645920"/>
            <a:ext cx="1828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B673"/>
                </a:solidFill>
                <a:latin typeface="JetBrains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295" y="2194560"/>
            <a:ext cx="1066830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FAFA"/>
                </a:solidFill>
                <a:latin typeface="Geist"/>
              </a:rPr>
              <a:t>PROXIMOS
PASOS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508406"/>
            <a:ext cx="1066830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1F"/>
                </a:solidFill>
                <a:latin typeface="Geist"/>
              </a:rPr>
              <a:t>De hoy a noviembre: 4 entregas, 0 improvisaciones.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308599" y="2075940"/>
            <a:ext cx="1013488" cy="18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5233" y="1828800"/>
            <a:ext cx="720000" cy="540000"/>
          </a:xfrm>
          <a:prstGeom prst="rect">
            <a:avLst/>
          </a:prstGeom>
          <a:solidFill>
            <a:srgbClr val="121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5233" y="1965960"/>
            <a:ext cx="720000" cy="26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BB673"/>
                </a:solidFill>
                <a:latin typeface="JetBrains Mono"/>
              </a:rPr>
              <a:t>26 MAY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" y="2551680"/>
            <a:ext cx="248419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1F"/>
                </a:solidFill>
                <a:latin typeface="Geist"/>
              </a:rPr>
              <a:t>Brief + identidad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" y="2968800"/>
            <a:ext cx="2484196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E"/>
                </a:solidFill>
                <a:latin typeface="Inter"/>
              </a:rPr>
              <a:t>Definir oferta, mensajes y piezas necesarias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75675" y="2075940"/>
            <a:ext cx="1013488" cy="18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2309" y="1828800"/>
            <a:ext cx="720000" cy="540000"/>
          </a:xfrm>
          <a:prstGeom prst="rect">
            <a:avLst/>
          </a:prstGeom>
          <a:solidFill>
            <a:srgbClr val="121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2309" y="1965960"/>
            <a:ext cx="720000" cy="26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BB673"/>
                </a:solidFill>
                <a:latin typeface="JetBrains Mono"/>
              </a:rPr>
              <a:t>JUNIO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211" y="2551680"/>
            <a:ext cx="248419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1F"/>
                </a:solidFill>
                <a:latin typeface="Geist"/>
              </a:rPr>
              <a:t>Copy + diseno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211" y="2968800"/>
            <a:ext cx="2484196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E"/>
                </a:solidFill>
                <a:latin typeface="Inter"/>
              </a:rPr>
              <a:t>Carrusel, stories, reels y copy de WA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2751" y="2075940"/>
            <a:ext cx="1013488" cy="18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69385" y="1828800"/>
            <a:ext cx="720000" cy="540000"/>
          </a:xfrm>
          <a:prstGeom prst="rect">
            <a:avLst/>
          </a:prstGeom>
          <a:solidFill>
            <a:srgbClr val="121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9385" y="1965960"/>
            <a:ext cx="720000" cy="26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BB673"/>
                </a:solidFill>
                <a:latin typeface="JetBrains Mono"/>
              </a:rPr>
              <a:t>OCTUBRE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2551680"/>
            <a:ext cx="248419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1F"/>
                </a:solidFill>
                <a:latin typeface="Geist"/>
              </a:rPr>
              <a:t>Warmup de audiencia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2968800"/>
            <a:ext cx="2484196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E"/>
                </a:solidFill>
                <a:latin typeface="Inter"/>
              </a:rPr>
              <a:t>Early access, countdown, nurturing leads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6461" y="1828800"/>
            <a:ext cx="720000" cy="54000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461" y="1965960"/>
            <a:ext cx="720000" cy="26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140C"/>
                </a:solidFill>
                <a:latin typeface="JetBrains Mono"/>
              </a:rPr>
              <a:t>28 NOV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4363" y="2551680"/>
            <a:ext cx="248419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1F"/>
                </a:solidFill>
                <a:latin typeface="Geist"/>
              </a:rPr>
              <a:t>Black Friday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4363" y="2968800"/>
            <a:ext cx="2484196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E"/>
                </a:solidFill>
                <a:latin typeface="Inter"/>
              </a:rPr>
              <a:t>Ejecucion en tiempo real, cierre de cupos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5989594"/>
            <a:ext cx="1066830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8E92"/>
                </a:solidFill>
                <a:latin typeface="Inter"/>
              </a:rPr>
              <a:t>Estado: lista para arrancar — solo falta la aprobacion.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1097280"/>
            <a:ext cx="832127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Geist"/>
              </a:rPr>
              <a:t>El mejor momento para
preparar Black Friday
fue ayer.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3566160"/>
            <a:ext cx="8321277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B673"/>
                </a:solidFill>
                <a:latin typeface="Geist"/>
              </a:rPr>
              <a:t>El segundo mejor es hoy.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" y="4754880"/>
            <a:ext cx="1745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+54 9 3548 550334</a:t>
            </a:r>
          </a:p>
        </p:txBody>
      </p:sp>
      <p:sp>
        <p:nvSpPr>
          <p:cNvPr id="5" name="Rectangle 4"/>
          <p:cNvSpPr/>
          <p:nvPr/>
        </p:nvSpPr>
        <p:spPr>
          <a:xfrm>
            <a:off x="3596335" y="4754880"/>
            <a:ext cx="2595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info.selvadigital@gmail.com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5394960"/>
            <a:ext cx="2680000" cy="290000"/>
          </a:xfrm>
          <a:prstGeom prst="rect">
            <a:avLst/>
          </a:prstGeom>
          <a:solidFill>
            <a:srgbClr val="0A0B0D"/>
          </a:solidFill>
          <a:ln w="1270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BB673"/>
                </a:solidFill>
                <a:latin typeface="JetBrains Mono"/>
              </a:rPr>
              <a:t>INICIO CAMPANA: 26 MAYO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4572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